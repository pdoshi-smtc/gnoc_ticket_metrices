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Sheet1!$A$2:$A$5</c:f>
              <c:strCache>
                <c:ptCount val="4"/>
                <c:pt idx="0">
                  <c:v>Wind Tre S.p.A.</c:v>
                </c:pt>
                <c:pt idx="1">
                  <c:v>Togo Cellulaire</c:v>
                </c:pt>
                <c:pt idx="2">
                  <c:v>Bouygues Telecom</c:v>
                </c:pt>
                <c:pt idx="3">
                  <c:v>A1 Telekom Austria 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12.0</c:v>
                </c:pt>
                <c:pt idx="2">
                  <c:v>12.0</c:v>
                </c:pt>
                <c:pt idx="3">
                  <c:v>54.0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Sheet1!$A$2:$A$6</c:f>
              <c:strCache>
                <c:ptCount val="5"/>
                <c:pt idx="0">
                  <c:v>Salt Mobile SA</c:v>
                </c:pt>
                <c:pt idx="1">
                  <c:v>Wind Tre S.p.A.</c:v>
                </c:pt>
                <c:pt idx="2">
                  <c:v>Vodafone-Panafon Hellenic Telecommunications Company S.A.</c:v>
                </c:pt>
                <c:pt idx="3">
                  <c:v>Vodafone Ireland Limited</c:v>
                </c:pt>
                <c:pt idx="4">
                  <c:v>Free mobile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5.0</c:v>
                </c:pt>
                <c:pt idx="2">
                  <c:v>10.0</c:v>
                </c:pt>
                <c:pt idx="3">
                  <c:v>14.0</c:v>
                </c:pt>
                <c:pt idx="4">
                  <c:v>16.0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Hutchison Drei Austria GmbH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Sheet1!$A$2:$A$11</c:f>
              <c:strCache>
                <c:ptCount val="10"/>
                <c:pt idx="0">
                  <c:v>Telia Finland Oyj</c:v>
                </c:pt>
                <c:pt idx="1">
                  <c:v>Vodafone Libertel B.V. - Ziggo</c:v>
                </c:pt>
                <c:pt idx="2">
                  <c:v>Wind Tre S.p.A.</c:v>
                </c:pt>
                <c:pt idx="3">
                  <c:v>Telecom Italia SpA</c:v>
                </c:pt>
                <c:pt idx="4">
                  <c:v>Nuuday A/S</c:v>
                </c:pt>
                <c:pt idx="5">
                  <c:v>A1 Slovenija, d.d.</c:v>
                </c:pt>
                <c:pt idx="6">
                  <c:v>S.C. Vodafone Romania S.A.</c:v>
                </c:pt>
                <c:pt idx="7">
                  <c:v>Vodafone Ireland Limited</c:v>
                </c:pt>
                <c:pt idx="8">
                  <c:v>Sunrise Communications AG</c:v>
                </c:pt>
                <c:pt idx="9">
                  <c:v>Vodafone Italia S.p.A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2.0</c:v>
                </c:pt>
                <c:pt idx="1">
                  <c:v>6.0</c:v>
                </c:pt>
                <c:pt idx="2">
                  <c:v>10.0</c:v>
                </c:pt>
                <c:pt idx="3">
                  <c:v>10.0</c:v>
                </c:pt>
                <c:pt idx="4">
                  <c:v>10.0</c:v>
                </c:pt>
                <c:pt idx="5">
                  <c:v>10.0</c:v>
                </c:pt>
                <c:pt idx="6">
                  <c:v>12.0</c:v>
                </c:pt>
                <c:pt idx="7">
                  <c:v>19.0</c:v>
                </c:pt>
                <c:pt idx="8">
                  <c:v>32.0</c:v>
                </c:pt>
                <c:pt idx="9">
                  <c:v>35.0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Sheet1!$A$2:$A$11</c:f>
              <c:strCache>
                <c:ptCount val="10"/>
                <c:pt idx="0">
                  <c:v>Telstra Corporation Limited</c:v>
                </c:pt>
                <c:pt idx="1">
                  <c:v>Telecom Personal S.A.</c:v>
                </c:pt>
                <c:pt idx="2">
                  <c:v>Telefonica Celular Del Paraguay S.A. (Telecel S.A.)</c:v>
                </c:pt>
                <c:pt idx="3">
                  <c:v>GCI Communication Corp</c:v>
                </c:pt>
                <c:pt idx="4">
                  <c:v>A1 Telekom Austria AG</c:v>
                </c:pt>
                <c:pt idx="5">
                  <c:v>Bell Mobility Inc.</c:v>
                </c:pt>
                <c:pt idx="6">
                  <c:v>Hi3G Access AB</c:v>
                </c:pt>
                <c:pt idx="7">
                  <c:v>SK Telecom Co., Ltd.</c:v>
                </c:pt>
                <c:pt idx="8">
                  <c:v>AT&amp;T Mobility</c:v>
                </c:pt>
                <c:pt idx="9">
                  <c:v>Orange France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</c:v>
                </c:pt>
                <c:pt idx="1">
                  <c:v>5.0</c:v>
                </c:pt>
                <c:pt idx="2">
                  <c:v>6.0</c:v>
                </c:pt>
                <c:pt idx="3">
                  <c:v>70.0</c:v>
                </c:pt>
                <c:pt idx="4">
                  <c:v>70.0</c:v>
                </c:pt>
                <c:pt idx="5">
                  <c:v>74.0</c:v>
                </c:pt>
                <c:pt idx="6">
                  <c:v>74.0</c:v>
                </c:pt>
                <c:pt idx="7">
                  <c:v>110.0</c:v>
                </c:pt>
                <c:pt idx="8">
                  <c:v>133.0</c:v>
                </c:pt>
                <c:pt idx="9">
                  <c:v>180.0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Orange Burkina Faso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Sheet1!$A$2:$A$2</c:f>
              <c:strCache>
                <c:ptCount val="1"/>
                <c:pt idx="0">
                  <c:v>Orange M2M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Duration (min)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(min)</c:v>
                </c:pt>
              </c:strCache>
            </c:strRef>
          </c:tx>
          <c:spPr>
            <a:solidFill>
              <a:srgbClr val="4BACC6"/>
            </a:solidFill>
          </c:spPr>
          <c:cat>
            <c:strRef>
              <c:f>Sheet1!$A$2:$A$5</c:f>
              <c:strCache>
                <c:ptCount val="4"/>
                <c:pt idx="0">
                  <c:v>Telekom Deutschland GmbH (T-Mobile)</c:v>
                </c:pt>
                <c:pt idx="1">
                  <c:v>Rogers Wireless</c:v>
                </c:pt>
                <c:pt idx="2">
                  <c:v>Telekom Deutschland GmbH</c:v>
                </c:pt>
                <c:pt idx="3">
                  <c:v>Orange France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74.0</c:v>
                </c:pt>
                <c:pt idx="1">
                  <c:v>74.0</c:v>
                </c:pt>
                <c:pt idx="2">
                  <c:v>110.0</c:v>
                </c:pt>
                <c:pt idx="3">
                  <c:v>180.0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Minutes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spPr>
    <a:effectLst>
      <a:outerShdw blurRad="50800" dist="25400" dir="5400000" rotWithShape="0">
        <a:srgbClr val="000000">
          <a:alpha val="35000"/>
        </a:srgbClr>
      </a:outerShdw>
    </a:effectLst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7AD"/>
                </a:solidFill>
                <a:latin typeface="Arial"/>
              </a:defRPr>
            </a:pPr>
            <a:r>
              <a:t>Lost Service (MNO Perspective)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Sudden service disruption due to Roaming Partner / MNO outage, or customer-side power/network outage.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BICS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JT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62018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62018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8276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MBQT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58276" y="1645920"/>
          <a:ext cx="3667658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58276" y="16459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0690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Orange_901  (top 10 of 11 VPLMN)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65760" y="4389120"/>
          <a:ext cx="3667658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3891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2018" y="40690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Sparkle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262018" y="4389120"/>
          <a:ext cx="3667658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262018" y="4389120"/>
            <a:ext cx="3667658" cy="21945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7AD"/>
                </a:solidFill>
                <a:latin typeface="Arial"/>
              </a:defRPr>
            </a:pPr>
            <a:r>
              <a:t>System failure (MNO Perspective)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Delayed Registration of Devices in Network results in System Failure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JT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Orange_901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262018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62018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8276" y="1325880"/>
            <a:ext cx="366765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E75B6"/>
                </a:solidFill>
                <a:latin typeface="Arial"/>
              </a:defRPr>
            </a:pPr>
            <a:r>
              <a:t>Sparkle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58276" y="1645920"/>
          <a:ext cx="3667658" cy="4937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158276" y="1645920"/>
            <a:ext cx="3667658" cy="4937760"/>
          </a:xfrm>
          <a:prstGeom prst="roundRect">
            <a:avLst>
              <a:gd name="adj" fmla="val 4500"/>
            </a:avLst>
          </a:prstGeom>
          <a:noFill/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